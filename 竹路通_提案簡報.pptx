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3c5e2221-d714-4915-8a7a-d945c7115e01}">
          <p14:sldIdLst>
            <p14:sldId id="256"/>
          </p14:sldIdLst>
        </p14:section>
        <p14:section name="問題與數據" id="{d0525b23-bd69-77d0-b3d4-95ebef007b34}">
          <p14:sldIdLst>
            <p14:sldId id="257"/>
            <p14:sldId id="258"/>
          </p14:sldIdLst>
        </p14:section>
        <p14:section name="目標客群" id="{27b51497-4772-1da6-2f4a-4e73338de2c1}">
          <p14:sldIdLst>
            <p14:sldId id="259"/>
          </p14:sldIdLst>
        </p14:section>
        <p14:section name="現況分析" id="{a25bb4db-a124-8ac9-68f8-5150b2b9cffe}">
          <p14:sldIdLst>
            <p14:sldId id="260"/>
            <p14:sldId id="261"/>
          </p14:sldIdLst>
        </p14:section>
        <p14:section name="解決方案" id="{b3b34331-ed88-b324-e9b0-db2d40e44861}">
          <p14:sldIdLst>
            <p14:sldId id="262"/>
            <p14:sldId id="263"/>
            <p14:sldId id="264"/>
          </p14:sldIdLst>
        </p14:section>
        <p14:section name="改善方式與推進" id="{4e98c9af-31b8-5ea3-1806-fde6c32e4b6b}">
          <p14:sldIdLst>
            <p14:sldId id="265"/>
            <p14:sldId id="266"/>
            <p14:sldId id="267"/>
          </p14:sldIdLst>
        </p14:section>
        <p14:section name="結語" id="{ce9cdc88-b11c-3e80-4f96-330a5d2d9262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全國 2025 上半年交通死亡 1,368 人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上半年 30 日死亡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B7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8BCC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F232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F2328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機車</c:v>
                </c:pt>
                <c:pt idx="1">
                  <c:v>其他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831</c:v>
                </c:pt>
                <c:pt idx="1">
                  <c:v>537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F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優先分數組成（滿分 100）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滿分</c:v>
                </c:pt>
              </c:strCache>
            </c:strRef>
          </c:tx>
          <c:spPr>
            <a:solidFill>
              <a:srgbClr val="F5B7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回報人數</c:v>
                  </c:pt>
                  <c:pt idx="1">
                    <c:v>附近事故</c:v>
                  </c:pt>
                  <c:pt idx="2">
                    <c:v>嚴重程度</c:v>
                  </c:pt>
                  <c:pt idx="3">
                    <c:v>道路等級</c:v>
                  </c:pt>
                  <c:pt idx="4">
                    <c:v>等待天數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21</c:v>
                </c:pt>
                <c:pt idx="3">
                  <c:v>9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一句話：讓常跑新竹道路的人一起回報，AI 用公開數據驗證並排序，邀請議員與主管機關到場，全程公開追蹤到改善為止。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三個痛點：一對一回報看不到他人、缺數據佐證、進度不公開。Join 數據為全國平台，用來說明單點陳情難成案，不代表新竹市情況。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機車比例 = 831 / 1,368 ≈ 60.7%，為全國數字。新竹市受傷人數下降是正面訊息，提案不否定市府成果，而是補上『民眾看得見的回報與追蹤』這一塊。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外送員人數為全國數字，新竹市無公開統計。試辦期先透過外送員社群、竹科通勤族群組招募回報者。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定位：竹路通不是要取代新竹通，而是補上公開、可附議、有數據的議題層，案件仍轉入新竹通與 1999 處理。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前人做法：1999 陳情、新竹通市政服務都能反映，但都是一對一回報，看不到其他人回報、沒有數據佐證、進度也不公開。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流程對應原始構想的 What 1–4。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權重為 Demo 初始值，試辦時與主管機關、外送員代表共同調整並公開。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現場可開 Demo 操作：選『東大路二段坑洞』範例，展示 AI 判斷為坑洞並合併到既有議題。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試辦範圍、時程與合作單位均待確認；不填入尚未發生的成果。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評審最可能質疑：會不會變成政治表演、會不會被灌單、隱私怎麼辦。這頁一次回答。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不預設成效數字，強調每個指標的計算方式都公開。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竹路通｜2026 新竹政策黑客松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2026 新竹政策黑客松提案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竹路通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新竹交通路況共治平台</a:t>
            </a:r>
            <a:endParaRPr lang="en-US" sz="2200" dirty="0"/>
          </a:p>
        </p:txBody>
      </p:sp>
      <p:sp>
        <p:nvSpPr>
          <p:cNvPr id="5" name="one-liner"/>
          <p:cNvSpPr txBox="1"/>
          <p:nvPr/>
        </p:nvSpPr>
        <p:spPr>
          <a:xfrm>
            <a:off x="731520" y="4160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5DC"/>
                </a:solidFill>
              </a:rPr>
              <a:t>讓常跑新竹道路的人回報路況問題，AI 用公開交通數據驗證後，邀請議員和主管機關追蹤改善，過程全程公開。</a:t>
            </a:r>
            <a:endParaRPr lang="en-US" sz="1800" dirty="0"/>
          </a:p>
        </p:txBody>
      </p:sp>
      <p:sp>
        <p:nvSpPr>
          <p:cNvPr id="6" name="lane mark 1"/>
          <p:cNvSpPr/>
          <p:nvPr/>
        </p:nvSpPr>
        <p:spPr>
          <a:xfrm>
            <a:off x="73152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lane mark 2"/>
          <p:cNvSpPr/>
          <p:nvPr/>
        </p:nvSpPr>
        <p:spPr>
          <a:xfrm>
            <a:off x="196596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lane mark 3"/>
          <p:cNvSpPr/>
          <p:nvPr/>
        </p:nvSpPr>
        <p:spPr>
          <a:xfrm>
            <a:off x="320040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lane mark 4"/>
          <p:cNvSpPr/>
          <p:nvPr/>
        </p:nvSpPr>
        <p:spPr>
          <a:xfrm>
            <a:off x="443484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lane mark 5"/>
          <p:cNvSpPr/>
          <p:nvPr/>
        </p:nvSpPr>
        <p:spPr>
          <a:xfrm>
            <a:off x="566928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lane mark 6"/>
          <p:cNvSpPr/>
          <p:nvPr/>
        </p:nvSpPr>
        <p:spPr>
          <a:xfrm>
            <a:off x="690372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lane mark 7"/>
          <p:cNvSpPr/>
          <p:nvPr/>
        </p:nvSpPr>
        <p:spPr>
          <a:xfrm>
            <a:off x="813816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lane mark 8"/>
          <p:cNvSpPr/>
          <p:nvPr/>
        </p:nvSpPr>
        <p:spPr>
          <a:xfrm>
            <a:off x="937260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lane mark 9"/>
          <p:cNvSpPr/>
          <p:nvPr/>
        </p:nvSpPr>
        <p:spPr>
          <a:xfrm>
            <a:off x="1060704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demo url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99"/>
                </a:solidFill>
              </a:rPr>
              <a:t>Demo：chase5ws.github.io/2026_-hsinchu_policy-hackathon/roads.html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反映了，然後呢？民眾看不到處理過程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41732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stat 1"/>
          <p:cNvSpPr txBox="1"/>
          <p:nvPr/>
        </p:nvSpPr>
        <p:spPr>
          <a:xfrm>
            <a:off x="822960" y="1691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4,000 通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新竹市 1999 話務中心平均每月約 4,000 通市民諮詢來電（近 5 年）</a:t>
            </a:r>
            <a:endParaRPr lang="en-US" sz="1400" dirty="0"/>
          </a:p>
        </p:txBody>
      </p:sp>
      <p:sp>
        <p:nvSpPr>
          <p:cNvPr id="6" name="insight 1"/>
          <p:cNvSpPr txBox="1"/>
          <p:nvPr/>
        </p:nvSpPr>
        <p:spPr>
          <a:xfrm>
            <a:off x="822960" y="3977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管道很多，但每一通都是一對一，別人看不到</a:t>
            </a:r>
            <a:endParaRPr lang="en-US" sz="1700" dirty="0"/>
          </a:p>
        </p:txBody>
      </p:sp>
      <p:sp>
        <p:nvSpPr>
          <p:cNvPr id="7" name="problem card 2"/>
          <p:cNvSpPr/>
          <p:nvPr/>
        </p:nvSpPr>
        <p:spPr>
          <a:xfrm>
            <a:off x="4297680" y="141732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8" name="stat 2"/>
          <p:cNvSpPr txBox="1"/>
          <p:nvPr/>
        </p:nvSpPr>
        <p:spPr>
          <a:xfrm>
            <a:off x="4572000" y="1691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3.0 ★</a:t>
            </a:r>
            <a:endParaRPr lang="en-US" sz="4400" dirty="0"/>
          </a:p>
        </p:txBody>
      </p:sp>
      <p:sp>
        <p:nvSpPr>
          <p:cNvPr id="9" name="stat label 2"/>
          <p:cNvSpPr txBox="1"/>
          <p:nvPr/>
        </p:nvSpPr>
        <p:spPr>
          <a:xfrm>
            <a:off x="457200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新竹通 App 在 App Store 的評分（458 則評分）</a:t>
            </a:r>
            <a:endParaRPr lang="en-US" sz="1400" dirty="0"/>
          </a:p>
        </p:txBody>
      </p:sp>
      <p:sp>
        <p:nvSpPr>
          <p:cNvPr id="10" name="insight 2"/>
          <p:cNvSpPr txBox="1"/>
          <p:nvPr/>
        </p:nvSpPr>
        <p:spPr>
          <a:xfrm>
            <a:off x="4572000" y="3977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已有陳情與案件查詢，但進度只有本人看得到</a:t>
            </a:r>
            <a:endParaRPr lang="en-US" sz="1700" dirty="0"/>
          </a:p>
        </p:txBody>
      </p:sp>
      <p:sp>
        <p:nvSpPr>
          <p:cNvPr id="11" name="problem card 3"/>
          <p:cNvSpPr/>
          <p:nvPr/>
        </p:nvSpPr>
        <p:spPr>
          <a:xfrm>
            <a:off x="8046720" y="141732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2" name="stat 3"/>
          <p:cNvSpPr txBox="1"/>
          <p:nvPr/>
        </p:nvSpPr>
        <p:spPr>
          <a:xfrm>
            <a:off x="8321040" y="1691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&lt; 5%</a:t>
            </a:r>
            <a:endParaRPr lang="en-US" sz="4400" dirty="0"/>
          </a:p>
        </p:txBody>
      </p:sp>
      <p:sp>
        <p:nvSpPr>
          <p:cNvPr id="13" name="stat label 3"/>
          <p:cNvSpPr txBox="1"/>
          <p:nvPr/>
        </p:nvSpPr>
        <p:spPr>
          <a:xfrm>
            <a:off x="832104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全國 Join 平台上線五年：9,000+ 則提案，成案 202 則</a:t>
            </a:r>
            <a:endParaRPr lang="en-US" sz="1400" dirty="0"/>
          </a:p>
        </p:txBody>
      </p:sp>
      <p:sp>
        <p:nvSpPr>
          <p:cNvPr id="14" name="insight 3"/>
          <p:cNvSpPr txBox="1"/>
          <p:nvPr/>
        </p:nvSpPr>
        <p:spPr>
          <a:xfrm>
            <a:off x="8321040" y="3977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缺乏數據佐證與集體力量，意見難以被重視</a:t>
            </a:r>
            <a:endParaRPr lang="en-US" sz="1700" dirty="0"/>
          </a:p>
        </p:txBody>
      </p:sp>
      <p:sp>
        <p:nvSpPr>
          <p:cNvPr id="15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資料：中央社 2026/03/12 新竹市數位發展處報導；App Store「新竹通」頁面（2026/10/30 查詢）；公視 2020/08/19 報導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機車占交通死亡六成，新竹道路問題每天都在發生</a:t>
            </a:r>
            <a:endParaRPr lang="en-US" sz="3200" dirty="0"/>
          </a:p>
        </p:txBody>
      </p:sp>
      <p:graphicFrame>
        <p:nvGraphicFramePr>
          <p:cNvPr id="3" name="motorcycle share chart" descr="全國 2025 上半年交通事故 30 日死亡 1,368 人，其中機車 831 人"/>
          <p:cNvGraphicFramePr/>
          <p:nvPr/>
        </p:nvGraphicFramePr>
        <p:xfrm>
          <a:off x="457200" y="1280160"/>
          <a:ext cx="47548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ct card 1"/>
          <p:cNvSpPr/>
          <p:nvPr/>
        </p:nvSpPr>
        <p:spPr>
          <a:xfrm>
            <a:off x="5577840" y="1325880"/>
            <a:ext cx="6035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fact stat 1"/>
          <p:cNvSpPr txBox="1"/>
          <p:nvPr/>
        </p:nvSpPr>
        <p:spPr>
          <a:xfrm>
            <a:off x="5806440" y="150876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−612 人</a:t>
            </a:r>
            <a:endParaRPr lang="en-US" sz="2600" dirty="0"/>
          </a:p>
        </p:txBody>
      </p:sp>
      <p:sp>
        <p:nvSpPr>
          <p:cNvPr id="6" name="fact text 1"/>
          <p:cNvSpPr txBox="1"/>
          <p:nvPr/>
        </p:nvSpPr>
        <p:spPr>
          <a:xfrm>
            <a:off x="7498080" y="143560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新竹市 2025 年 1–9 月交通受傷人數較去年同期減少（−6.8%）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有改善，但高齡騎士事故仍上升，市府列出 4 處事故熱點</a:t>
            </a:r>
            <a:endParaRPr lang="en-US" sz="1400" dirty="0"/>
          </a:p>
        </p:txBody>
      </p:sp>
      <p:sp>
        <p:nvSpPr>
          <p:cNvPr id="7" name="fact card 2"/>
          <p:cNvSpPr/>
          <p:nvPr/>
        </p:nvSpPr>
        <p:spPr>
          <a:xfrm>
            <a:off x="5577840" y="2834640"/>
            <a:ext cx="6035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fact stat 2"/>
          <p:cNvSpPr txBox="1"/>
          <p:nvPr/>
        </p:nvSpPr>
        <p:spPr>
          <a:xfrm>
            <a:off x="5806440" y="30175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7–9 時</a:t>
            </a:r>
            <a:endParaRPr lang="en-US" sz="2600" dirty="0"/>
          </a:p>
        </p:txBody>
      </p:sp>
      <p:sp>
        <p:nvSpPr>
          <p:cNvPr id="9" name="fact text 2"/>
          <p:cNvSpPr txBox="1"/>
          <p:nvPr/>
        </p:nvSpPr>
        <p:spPr>
          <a:xfrm>
            <a:off x="7498080" y="294436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竹科通勤：光復路一段 525 巷口尖峰回堵，有車輛逆向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市府 2026/8/11 起試辦晨間單行管制</a:t>
            </a:r>
            <a:endParaRPr lang="en-US" sz="1400" dirty="0"/>
          </a:p>
        </p:txBody>
      </p:sp>
      <p:sp>
        <p:nvSpPr>
          <p:cNvPr id="10" name="fact card 3"/>
          <p:cNvSpPr/>
          <p:nvPr/>
        </p:nvSpPr>
        <p:spPr>
          <a:xfrm>
            <a:off x="5577840" y="4343400"/>
            <a:ext cx="6035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fact stat 3"/>
          <p:cNvSpPr txBox="1"/>
          <p:nvPr/>
        </p:nvSpPr>
        <p:spPr>
          <a:xfrm>
            <a:off x="5806440" y="45262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12 m+</a:t>
            </a:r>
            <a:endParaRPr lang="en-US" sz="2600" dirty="0"/>
          </a:p>
        </p:txBody>
      </p:sp>
      <p:sp>
        <p:nvSpPr>
          <p:cNvPr id="12" name="fact text 3"/>
          <p:cNvSpPr txBox="1"/>
          <p:nvPr/>
        </p:nvSpPr>
        <p:spPr>
          <a:xfrm>
            <a:off x="7498080" y="4453128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市府委託顧問調查全市 12 公尺以上道路與人行環境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議員指出媒體評比中竹市「道路與交通」墊底</a:t>
            </a:r>
            <a:endParaRPr lang="en-US" sz="1400" dirty="0"/>
          </a:p>
        </p:txBody>
      </p:sp>
      <p:sp>
        <p:nvSpPr>
          <p:cNvPr id="13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資料：自由時報 2025/09 引述交通部 30 日死亡統計；中央社 2025 新竹市道安會報；聯合報 2026/07/28；聯合報 新竹市議員質詢報導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先找每天跑最多路的人：外送員與通勤族</a:t>
            </a:r>
            <a:endParaRPr lang="en-US" sz="3200" dirty="0"/>
          </a:p>
        </p:txBody>
      </p:sp>
      <p:sp>
        <p:nvSpPr>
          <p:cNvPr id="3" name="persona card 1"/>
          <p:cNvSpPr/>
          <p:nvPr/>
        </p:nvSpPr>
        <p:spPr>
          <a:xfrm>
            <a:off x="548640" y="137160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外送員 circle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外送員 icon" descr="外送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810512"/>
            <a:ext cx="493776" cy="493776"/>
          </a:xfrm>
          <a:prstGeom prst="rect">
            <a:avLst/>
          </a:prstGeom>
        </p:spPr>
      </p:pic>
      <p:sp>
        <p:nvSpPr>
          <p:cNvPr id="6" name="persona name 1"/>
          <p:cNvSpPr txBox="1"/>
          <p:nvPr/>
        </p:nvSpPr>
        <p:spPr>
          <a:xfrm>
            <a:off x="178308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外送員</a:t>
            </a:r>
            <a:endParaRPr lang="en-US" sz="2200" dirty="0"/>
          </a:p>
        </p:txBody>
      </p:sp>
      <p:sp>
        <p:nvSpPr>
          <p:cNvPr id="7" name="persona role 1"/>
          <p:cNvSpPr txBox="1"/>
          <p:nvPr/>
        </p:nvSpPr>
        <p:spPr>
          <a:xfrm>
            <a:off x="17830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核心種子用戶</a:t>
            </a:r>
            <a:endParaRPr lang="en-US" sz="1300" dirty="0"/>
          </a:p>
        </p:txBody>
      </p:sp>
      <p:sp>
        <p:nvSpPr>
          <p:cNvPr id="8" name="persona points 1"/>
          <p:cNvSpPr txBox="1"/>
          <p:nvPr/>
        </p:nvSpPr>
        <p:spPr>
          <a:xfrm>
            <a:off x="822960" y="2743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全國外送員 2019 年 4.5 萬人 → 2022 年 14.5 萬人，三年增三倍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每天穿梭大小巷弄，最早遇到坑洞、號誌與違停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外送員權益保障法 2026/7/21 施行，平台須負職安責任，有誘因合作</a:t>
            </a:r>
            <a:endParaRPr lang="en-US" sz="1400" dirty="0"/>
          </a:p>
        </p:txBody>
      </p:sp>
      <p:sp>
        <p:nvSpPr>
          <p:cNvPr id="9" name="persona card 2"/>
          <p:cNvSpPr/>
          <p:nvPr/>
        </p:nvSpPr>
        <p:spPr>
          <a:xfrm>
            <a:off x="4297680" y="137160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竹科通勤族 circle"/>
          <p:cNvSpPr/>
          <p:nvPr/>
        </p:nvSpPr>
        <p:spPr>
          <a:xfrm>
            <a:off x="457200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竹科通勤族 icon" descr="竹科通勤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10512"/>
            <a:ext cx="493776" cy="493776"/>
          </a:xfrm>
          <a:prstGeom prst="rect">
            <a:avLst/>
          </a:prstGeom>
        </p:spPr>
      </p:pic>
      <p:sp>
        <p:nvSpPr>
          <p:cNvPr id="12" name="persona name 2"/>
          <p:cNvSpPr txBox="1"/>
          <p:nvPr/>
        </p:nvSpPr>
        <p:spPr>
          <a:xfrm>
            <a:off x="553212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竹科通勤族</a:t>
            </a:r>
            <a:endParaRPr lang="en-US" sz="2200" dirty="0"/>
          </a:p>
        </p:txBody>
      </p:sp>
      <p:sp>
        <p:nvSpPr>
          <p:cNvPr id="13" name="persona role 2"/>
          <p:cNvSpPr txBox="1"/>
          <p:nvPr/>
        </p:nvSpPr>
        <p:spPr>
          <a:xfrm>
            <a:off x="553212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高頻、固定路線</a:t>
            </a:r>
            <a:endParaRPr lang="en-US" sz="1300" dirty="0"/>
          </a:p>
        </p:txBody>
      </p:sp>
      <p:sp>
        <p:nvSpPr>
          <p:cNvPr id="14" name="persona points 2"/>
          <p:cNvSpPr txBox="1"/>
          <p:nvPr/>
        </p:nvSpPr>
        <p:spPr>
          <a:xfrm>
            <a:off x="4572000" y="2743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每天同時段走同一條路，能持續回報與確認改善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光復路、公道五等通勤要道尖峰回堵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人數集中，容易累積附議形成議題</a:t>
            </a:r>
            <a:endParaRPr lang="en-US" sz="1400" dirty="0"/>
          </a:p>
        </p:txBody>
      </p:sp>
      <p:sp>
        <p:nvSpPr>
          <p:cNvPr id="15" name="persona card 3"/>
          <p:cNvSpPr/>
          <p:nvPr/>
        </p:nvSpPr>
        <p:spPr>
          <a:xfrm>
            <a:off x="8046720" y="1371600"/>
            <a:ext cx="3520440" cy="44348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6" name="學童家長與長輩 circle"/>
          <p:cNvSpPr/>
          <p:nvPr/>
        </p:nvSpPr>
        <p:spPr>
          <a:xfrm>
            <a:off x="832104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學童家長與長輩 icon" descr="學童家長與長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10512"/>
            <a:ext cx="493776" cy="493776"/>
          </a:xfrm>
          <a:prstGeom prst="rect">
            <a:avLst/>
          </a:prstGeom>
        </p:spPr>
      </p:pic>
      <p:sp>
        <p:nvSpPr>
          <p:cNvPr id="18" name="persona name 3"/>
          <p:cNvSpPr txBox="1"/>
          <p:nvPr/>
        </p:nvSpPr>
        <p:spPr>
          <a:xfrm>
            <a:off x="928116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學童家長與長輩</a:t>
            </a:r>
            <a:endParaRPr lang="en-US" sz="2200" dirty="0"/>
          </a:p>
        </p:txBody>
      </p:sp>
      <p:sp>
        <p:nvSpPr>
          <p:cNvPr id="19" name="persona role 3"/>
          <p:cNvSpPr txBox="1"/>
          <p:nvPr/>
        </p:nvSpPr>
        <p:spPr>
          <a:xfrm>
            <a:off x="928116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最需要被保護的用路人</a:t>
            </a:r>
            <a:endParaRPr lang="en-US" sz="1300" dirty="0"/>
          </a:p>
        </p:txBody>
      </p:sp>
      <p:sp>
        <p:nvSpPr>
          <p:cNvPr id="20" name="persona points 3"/>
          <p:cNvSpPr txBox="1"/>
          <p:nvPr/>
        </p:nvSpPr>
        <p:spPr>
          <a:xfrm>
            <a:off x="8321040" y="274320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市府推動 28 校通學步道，家長最在意上學路線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高齡騎士事故上升，路口安全需求高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由里辦公室、學校家長會協助推廣</a:t>
            </a:r>
            <a:endParaRPr lang="en-US" sz="1400" dirty="0"/>
          </a:p>
        </p:txBody>
      </p:sp>
      <p:sp>
        <p:nvSpPr>
          <p:cNvPr id="21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資料：經濟日報 2023/08/15 引述勞動部職安署（外送員人數）；104 職場力 2026/05/08（外送員法施行日）；中央社 2025/2026 新竹市府報導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新竹通已是市民入口，缺的是「公開的路況議題」</a:t>
            </a:r>
            <a:endParaRPr lang="en-US" sz="3200" dirty="0"/>
          </a:p>
        </p:txBody>
      </p:sp>
      <p:pic>
        <p:nvPicPr>
          <p:cNvPr id="3" name="新竹通網站首頁截圖" descr="新竹通網站 id.hccg.gov.tw 首頁截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2459736"/>
          </a:xfrm>
          <a:prstGeom prst="rect">
            <a:avLst/>
          </a:prstGeom>
        </p:spPr>
      </p:pic>
      <p:sp>
        <p:nvSpPr>
          <p:cNvPr id="4" name="screenshot caption"/>
          <p:cNvSpPr txBox="1"/>
          <p:nvPr/>
        </p:nvSpPr>
        <p:spPr>
          <a:xfrm>
            <a:off x="548640" y="3886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id.hccg.gov.tw 首頁（2026/10/30 擷取）</a:t>
            </a:r>
            <a:endParaRPr lang="en-US" sz="1000" dirty="0"/>
          </a:p>
        </p:txBody>
      </p:sp>
      <p:sp>
        <p:nvSpPr>
          <p:cNvPr id="5" name="strength card"/>
          <p:cNvSpPr/>
          <p:nvPr/>
        </p:nvSpPr>
        <p:spPr>
          <a:xfrm>
            <a:off x="548640" y="4297680"/>
            <a:ext cx="5120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strengths"/>
          <p:cNvSpPr txBox="1"/>
          <p:nvPr/>
        </p:nvSpPr>
        <p:spPr>
          <a:xfrm>
            <a:off x="777240" y="438912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既有優勢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整合 300+ 項市政服務、下載 20 萬次以上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已有陳情反映、案件查詢、數位市民卡、公車與停車資訊</a:t>
            </a:r>
            <a:endParaRPr lang="en-US" sz="1300" dirty="0"/>
          </a:p>
        </p:txBody>
      </p:sp>
      <p:sp>
        <p:nvSpPr>
          <p:cNvPr id="7" name="gap card 1"/>
          <p:cNvSpPr/>
          <p:nvPr/>
        </p:nvSpPr>
        <p:spPr>
          <a:xfrm>
            <a:off x="6035040" y="1371600"/>
            <a:ext cx="557784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8" name="gap icon bg 1"/>
          <p:cNvSpPr/>
          <p:nvPr/>
        </p:nvSpPr>
        <p:spPr>
          <a:xfrm>
            <a:off x="6217920" y="163677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gap icon 1" descr="缺口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28216"/>
            <a:ext cx="274320" cy="274320"/>
          </a:xfrm>
          <a:prstGeom prst="rect">
            <a:avLst/>
          </a:prstGeom>
        </p:spPr>
      </p:pic>
      <p:sp>
        <p:nvSpPr>
          <p:cNvPr id="10" name="gap text 1"/>
          <p:cNvSpPr txBox="1"/>
          <p:nvPr/>
        </p:nvSpPr>
        <p:spPr>
          <a:xfrm>
            <a:off x="6858000" y="1444752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陳情是一對一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看不到別人回報過什麼，同一個坑洞可能被各自陳情很多次</a:t>
            </a:r>
            <a:endParaRPr lang="en-US" sz="1500" dirty="0"/>
          </a:p>
        </p:txBody>
      </p:sp>
      <p:sp>
        <p:nvSpPr>
          <p:cNvPr id="11" name="gap card 2"/>
          <p:cNvSpPr/>
          <p:nvPr/>
        </p:nvSpPr>
        <p:spPr>
          <a:xfrm>
            <a:off x="6035040" y="2487168"/>
            <a:ext cx="557784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2" name="gap icon bg 2"/>
          <p:cNvSpPr/>
          <p:nvPr/>
        </p:nvSpPr>
        <p:spPr>
          <a:xfrm>
            <a:off x="6217920" y="27523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gap icon 2" descr="缺口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843784"/>
            <a:ext cx="274320" cy="274320"/>
          </a:xfrm>
          <a:prstGeom prst="rect">
            <a:avLst/>
          </a:prstGeom>
        </p:spPr>
      </p:pic>
      <p:sp>
        <p:nvSpPr>
          <p:cNvPr id="14" name="gap text 2"/>
          <p:cNvSpPr txBox="1"/>
          <p:nvPr/>
        </p:nvSpPr>
        <p:spPr>
          <a:xfrm>
            <a:off x="6858000" y="2560320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進度只給本人看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案件查詢需登入，其他用路人不知道問題有沒有人在處理</a:t>
            </a:r>
            <a:endParaRPr lang="en-US" sz="1500" dirty="0"/>
          </a:p>
        </p:txBody>
      </p:sp>
      <p:sp>
        <p:nvSpPr>
          <p:cNvPr id="15" name="gap card 3"/>
          <p:cNvSpPr/>
          <p:nvPr/>
        </p:nvSpPr>
        <p:spPr>
          <a:xfrm>
            <a:off x="6035040" y="3602736"/>
            <a:ext cx="557784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6" name="gap icon bg 3"/>
          <p:cNvSpPr/>
          <p:nvPr/>
        </p:nvSpPr>
        <p:spPr>
          <a:xfrm>
            <a:off x="6217920" y="386791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gap icon 3" descr="缺口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959352"/>
            <a:ext cx="274320" cy="274320"/>
          </a:xfrm>
          <a:prstGeom prst="rect">
            <a:avLst/>
          </a:prstGeom>
        </p:spPr>
      </p:pic>
      <p:sp>
        <p:nvSpPr>
          <p:cNvPr id="18" name="gap text 3"/>
          <p:cNvSpPr txBox="1"/>
          <p:nvPr/>
        </p:nvSpPr>
        <p:spPr>
          <a:xfrm>
            <a:off x="6858000" y="367588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沒有地圖與數據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無法看出哪裡回報最多、是否有事故紀錄，難排優先順序</a:t>
            </a:r>
            <a:endParaRPr lang="en-US" sz="1500" dirty="0"/>
          </a:p>
        </p:txBody>
      </p:sp>
      <p:sp>
        <p:nvSpPr>
          <p:cNvPr id="19" name="gap card 4"/>
          <p:cNvSpPr/>
          <p:nvPr/>
        </p:nvSpPr>
        <p:spPr>
          <a:xfrm>
            <a:off x="6035040" y="4718304"/>
            <a:ext cx="557784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0" name="gap icon bg 4"/>
          <p:cNvSpPr/>
          <p:nvPr/>
        </p:nvSpPr>
        <p:spPr>
          <a:xfrm>
            <a:off x="6217920" y="4983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gap icon 4" descr="缺口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074920"/>
            <a:ext cx="274320" cy="274320"/>
          </a:xfrm>
          <a:prstGeom prst="rect">
            <a:avLst/>
          </a:prstGeom>
        </p:spPr>
      </p:pic>
      <p:sp>
        <p:nvSpPr>
          <p:cNvPr id="22" name="gap text 4"/>
          <p:cNvSpPr txBox="1"/>
          <p:nvPr/>
        </p:nvSpPr>
        <p:spPr>
          <a:xfrm>
            <a:off x="6858000" y="4791456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使用門檻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需註冊數位市民帳號；App 評分 3.0，評論有登入問題；網站最新公告停在 2025/12</a:t>
            </a:r>
            <a:endParaRPr lang="en-US" sz="15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資料：新竹通網站 id.hccg.gov.tw、App Store「新竹通」頁面（2026/10/30 查詢）；中央社 2026/03/12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差異：集體回報＋數據驗證＋公開追蹤</a:t>
            </a:r>
            <a:endParaRPr lang="en-US" sz="3200" dirty="0"/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74520"/>
                <a:gridCol w="1874520"/>
                <a:gridCol w="1874520"/>
                <a:gridCol w="18745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1999 專線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新竹通陳情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Join 平台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竹路通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看得到其他人的回報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同一問題自動合併、附議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7C0E"/>
                          </a:solidFill>
                        </a:rPr>
                        <a:t>△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用公開交通數據佐證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處理進度公開給所有人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7C0E"/>
                          </a:solidFill>
                        </a:rPr>
                        <a:t>△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7C0E"/>
                          </a:solidFill>
                        </a:rPr>
                        <a:t>△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議員與主管機關公開場勘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完工後由回報者確認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免註冊、LINE 即可回報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BCC2"/>
                          </a:solidFill>
                        </a:rPr>
                        <a:t>✕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7F4B"/>
                          </a:solidFill>
                        </a:rPr>
                        <a:t>✔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</a:tbl>
          </a:graphicData>
        </a:graphic>
      </p:graphicFrame>
      <p:sp>
        <p:nvSpPr>
          <p:cNvPr id="4" name="legend"/>
          <p:cNvSpPr txBox="1"/>
          <p:nvPr/>
        </p:nvSpPr>
        <p:spPr>
          <a:xfrm>
            <a:off x="54864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✔ 有　△ 部分（需登入或僅限連署議題）　✕ 無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四步驟：從一則回報到看得見的改善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01 集體回報 circle"/>
          <p:cNvSpPr/>
          <p:nvPr/>
        </p:nvSpPr>
        <p:spPr>
          <a:xfrm>
            <a:off x="822960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01 集體回報 icon" descr="01 集體回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11096"/>
            <a:ext cx="521208" cy="521208"/>
          </a:xfrm>
          <a:prstGeom prst="rect">
            <a:avLst/>
          </a:prstGeom>
        </p:spPr>
      </p:pic>
      <p:sp>
        <p:nvSpPr>
          <p:cNvPr id="6" name="step title 1"/>
          <p:cNvSpPr txBox="1"/>
          <p:nvPr/>
        </p:nvSpPr>
        <p:spPr>
          <a:xfrm>
            <a:off x="82296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01 集體回報</a:t>
            </a:r>
            <a:endParaRPr lang="en-US" sz="1900" dirty="0"/>
          </a:p>
        </p:txBody>
      </p:sp>
      <p:sp>
        <p:nvSpPr>
          <p:cNvPr id="7" name="step body 1"/>
          <p:cNvSpPr txBox="1"/>
          <p:nvPr/>
        </p:nvSpPr>
        <p:spPr>
          <a:xfrm>
            <a:off x="822960" y="3337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 Bot 或網頁傳照片＋定位；200 公尺內同類問題自動合併，按「我也遇到」累積附議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3218688" y="3291840"/>
            <a:ext cx="137160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9" name="step card 2"/>
          <p:cNvSpPr/>
          <p:nvPr/>
        </p:nvSpPr>
        <p:spPr>
          <a:xfrm>
            <a:off x="3383280" y="146304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02 AI 分類與驗證 circle"/>
          <p:cNvSpPr/>
          <p:nvPr/>
        </p:nvSpPr>
        <p:spPr>
          <a:xfrm>
            <a:off x="3657600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02 AI 分類與驗證 icon" descr="02 AI 分類與驗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1911096"/>
            <a:ext cx="521208" cy="521208"/>
          </a:xfrm>
          <a:prstGeom prst="rect">
            <a:avLst/>
          </a:prstGeom>
        </p:spPr>
      </p:pic>
      <p:sp>
        <p:nvSpPr>
          <p:cNvPr id="12" name="step title 2"/>
          <p:cNvSpPr txBox="1"/>
          <p:nvPr/>
        </p:nvSpPr>
        <p:spPr>
          <a:xfrm>
            <a:off x="365760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02 AI 分類與驗證</a:t>
            </a:r>
            <a:endParaRPr lang="en-US" sz="1900" dirty="0"/>
          </a:p>
        </p:txBody>
      </p:sp>
      <p:sp>
        <p:nvSpPr>
          <p:cNvPr id="13" name="step body 2"/>
          <p:cNvSpPr txBox="1"/>
          <p:nvPr/>
        </p:nvSpPr>
        <p:spPr>
          <a:xfrm>
            <a:off x="3657600" y="3337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LLM 歸類、摘要；比對事故資料、TDX 路況與施工資料，計算公開的優先分數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6053328" y="3291840"/>
            <a:ext cx="137160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5" name="step card 3"/>
          <p:cNvSpPr/>
          <p:nvPr/>
        </p:nvSpPr>
        <p:spPr>
          <a:xfrm>
            <a:off x="6217920" y="146304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03 公開場勘 circle"/>
          <p:cNvSpPr/>
          <p:nvPr/>
        </p:nvSpPr>
        <p:spPr>
          <a:xfrm>
            <a:off x="6492240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03 公開場勘 icon" descr="03 公開場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1911096"/>
            <a:ext cx="521208" cy="521208"/>
          </a:xfrm>
          <a:prstGeom prst="rect">
            <a:avLst/>
          </a:prstGeom>
        </p:spPr>
      </p:pic>
      <p:sp>
        <p:nvSpPr>
          <p:cNvPr id="18" name="step title 3"/>
          <p:cNvSpPr txBox="1"/>
          <p:nvPr/>
        </p:nvSpPr>
        <p:spPr>
          <a:xfrm>
            <a:off x="649224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03 公開場勘</a:t>
            </a:r>
            <a:endParaRPr lang="en-US" sz="1900" dirty="0"/>
          </a:p>
        </p:txBody>
      </p:sp>
      <p:sp>
        <p:nvSpPr>
          <p:cNvPr id="19" name="step body 3"/>
          <p:cNvSpPr txBox="1"/>
          <p:nvPr/>
        </p:nvSpPr>
        <p:spPr>
          <a:xfrm>
            <a:off x="6492240" y="3337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高分議題邀請該選區所有議員（不分黨派）與主管機關到場，影片與承諾公開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8887968" y="3291840"/>
            <a:ext cx="137160" cy="32004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1" name="step card 4"/>
          <p:cNvSpPr/>
          <p:nvPr/>
        </p:nvSpPr>
        <p:spPr>
          <a:xfrm>
            <a:off x="9052560" y="146304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04 追蹤與通知 circle"/>
          <p:cNvSpPr/>
          <p:nvPr/>
        </p:nvSpPr>
        <p:spPr>
          <a:xfrm>
            <a:off x="9326880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04 追蹤與通知 icon" descr="04 追蹤與通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1911096"/>
            <a:ext cx="521208" cy="521208"/>
          </a:xfrm>
          <a:prstGeom prst="rect">
            <a:avLst/>
          </a:prstGeom>
        </p:spPr>
      </p:pic>
      <p:sp>
        <p:nvSpPr>
          <p:cNvPr id="24" name="step title 4"/>
          <p:cNvSpPr txBox="1"/>
          <p:nvPr/>
        </p:nvSpPr>
        <p:spPr>
          <a:xfrm>
            <a:off x="932688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04 追蹤與通知</a:t>
            </a:r>
            <a:endParaRPr lang="en-US" sz="1900" dirty="0"/>
          </a:p>
        </p:txBody>
      </p:sp>
      <p:sp>
        <p:nvSpPr>
          <p:cNvPr id="25" name="step body 4"/>
          <p:cNvSpPr txBox="1"/>
          <p:nvPr/>
        </p:nvSpPr>
        <p:spPr>
          <a:xfrm>
            <a:off x="9326880" y="3337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同步 1999／新竹通案號，進度變更即 LINE 通知；完工由回報者確認是否改善</a:t>
            </a:r>
            <a:endParaRPr lang="en-US" sz="1400" dirty="0"/>
          </a:p>
        </p:txBody>
      </p:sp>
      <p:sp>
        <p:nvSpPr>
          <p:cNvPr id="26" name="tech line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技術：LINE Bot／網頁回報 ＋ 地圖 ＋ LLM 分類摘要 ＋ 政府開放資料 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只做整理，優先順序由公開數據決定</a:t>
            </a:r>
            <a:endParaRPr lang="en-US" sz="3200" dirty="0"/>
          </a:p>
        </p:txBody>
      </p:sp>
      <p:graphicFrame>
        <p:nvGraphicFramePr>
          <p:cNvPr id="3" name="priority score chart" descr="優先分數：回報人數 30、附近事故 30、嚴重程度 21、道路等級 9、等待天數 10"/>
          <p:cNvGraphicFramePr/>
          <p:nvPr/>
        </p:nvGraphicFramePr>
        <p:xfrm>
          <a:off x="548640" y="132588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ource card 1"/>
          <p:cNvSpPr/>
          <p:nvPr/>
        </p:nvSpPr>
        <p:spPr>
          <a:xfrm>
            <a:off x="6217920" y="137160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" name="source text 1"/>
          <p:cNvSpPr txBox="1"/>
          <p:nvPr/>
        </p:nvSpPr>
        <p:spPr>
          <a:xfrm>
            <a:off x="6446520" y="14447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交通部 道路交通事故資料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A1／A2 事故含經緯度，比對回報點附近歷史事故</a:t>
            </a:r>
            <a:endParaRPr lang="en-US" sz="1500" dirty="0"/>
          </a:p>
        </p:txBody>
      </p:sp>
      <p:sp>
        <p:nvSpPr>
          <p:cNvPr id="6" name="source card 2"/>
          <p:cNvSpPr/>
          <p:nvPr/>
        </p:nvSpPr>
        <p:spPr>
          <a:xfrm>
            <a:off x="6217920" y="246888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source text 2"/>
          <p:cNvSpPr txBox="1"/>
          <p:nvPr/>
        </p:nvSpPr>
        <p:spPr>
          <a:xfrm>
            <a:off x="6446520" y="25420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TDX 運輸資料流通服務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VD 車速、即時路況事件、道路施工，佐證壅塞並避免重複派工</a:t>
            </a:r>
            <a:endParaRPr lang="en-US" sz="1500" dirty="0"/>
          </a:p>
        </p:txBody>
      </p:sp>
      <p:sp>
        <p:nvSpPr>
          <p:cNvPr id="8" name="source card 3"/>
          <p:cNvSpPr/>
          <p:nvPr/>
        </p:nvSpPr>
        <p:spPr>
          <a:xfrm>
            <a:off x="6217920" y="356616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source text 3"/>
          <p:cNvSpPr txBox="1"/>
          <p:nvPr/>
        </p:nvSpPr>
        <p:spPr>
          <a:xfrm>
            <a:off x="6446520" y="363931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新竹市 1999／新竹通案件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需與市府合作介接：找相似陳情、同步案號與進度</a:t>
            </a:r>
            <a:endParaRPr lang="en-US" sz="1500" dirty="0"/>
          </a:p>
        </p:txBody>
      </p:sp>
      <p:sp>
        <p:nvSpPr>
          <p:cNvPr id="10" name="source card 4"/>
          <p:cNvSpPr/>
          <p:nvPr/>
        </p:nvSpPr>
        <p:spPr>
          <a:xfrm>
            <a:off x="6217920" y="4663440"/>
            <a:ext cx="53949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1" name="source text 4"/>
          <p:cNvSpPr txBox="1"/>
          <p:nvPr/>
        </p:nvSpPr>
        <p:spPr>
          <a:xfrm>
            <a:off x="6446520" y="4736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群眾回報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照片、定位、時間、附議數，判斷影響範圍與急迫性</a:t>
            </a:r>
            <a:endParaRPr lang="en-US" sz="1500" dirty="0"/>
          </a:p>
        </p:txBody>
      </p:sp>
      <p:sp>
        <p:nvSpPr>
          <p:cNvPr id="12" name="ai principle"/>
          <p:cNvSpPr txBox="1"/>
          <p:nvPr/>
        </p:nvSpPr>
        <p:spPr>
          <a:xfrm>
            <a:off x="6217920" y="5760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LLM 只負責歸類、摘要與合併；分數公式與數據來源公開，避免黑箱。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Demo：優先排行、數據佐證與公開進度</a:t>
            </a:r>
            <a:endParaRPr lang="en-US" sz="3200" dirty="0"/>
          </a:p>
        </p:txBody>
      </p:sp>
      <p:pic>
        <p:nvPicPr>
          <p:cNvPr id="3" name="demo screenshot list" descr="竹路通 Demo 優先處理排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114800" cy="4572000"/>
          </a:xfrm>
          <a:prstGeom prst="rect">
            <a:avLst/>
          </a:prstGeom>
        </p:spPr>
      </p:pic>
      <p:pic>
        <p:nvPicPr>
          <p:cNvPr id="4" name="demo screenshot detail" descr="竹路通 Demo 議題詳情：公開數據佐證、優先分數與處理進度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6675120" cy="3538728"/>
          </a:xfrm>
          <a:prstGeom prst="rect">
            <a:avLst/>
          </a:prstGeom>
        </p:spPr>
      </p:pic>
      <p:sp>
        <p:nvSpPr>
          <p:cNvPr id="5" name="demo notes"/>
          <p:cNvSpPr txBox="1"/>
          <p:nvPr/>
        </p:nvSpPr>
        <p:spPr>
          <a:xfrm>
            <a:off x="4937760" y="498348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可實際操作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回報 → AI 分類預覽 → 自動合併附議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邀請議員、訂閱通知、LINE Bot 對話示意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chase5ws.github.io/2026_-hsinchu_policy-hackathon/roads.html</a:t>
            </a:r>
            <a:endParaRPr lang="en-US" sz="13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Demo 為示範資料：路名真實、座標概略，回報人數、事故筆數與進度皆為虛構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改善方式：先在外面驗證，再接進新竹通</a:t>
            </a:r>
            <a:endParaRPr lang="en-US" sz="3200" dirty="0"/>
          </a:p>
        </p:txBody>
      </p:sp>
      <p:sp>
        <p:nvSpPr>
          <p:cNvPr id="3" name="phase card 1"/>
          <p:cNvSpPr/>
          <p:nvPr/>
        </p:nvSpPr>
        <p:spPr>
          <a:xfrm>
            <a:off x="548640" y="14173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9E9E3"/>
          </a:solidFill>
          <a:ln/>
        </p:spPr>
      </p:sp>
      <p:sp>
        <p:nvSpPr>
          <p:cNvPr id="4" name="phase label 1"/>
          <p:cNvSpPr txBox="1"/>
          <p:nvPr/>
        </p:nvSpPr>
        <p:spPr>
          <a:xfrm>
            <a:off x="82296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短期</a:t>
            </a:r>
            <a:endParaRPr lang="en-US" sz="1400" dirty="0"/>
          </a:p>
        </p:txBody>
      </p:sp>
      <p:sp>
        <p:nvSpPr>
          <p:cNvPr id="5" name="phase title 1"/>
          <p:cNvSpPr txBox="1"/>
          <p:nvPr/>
        </p:nvSpPr>
        <p:spPr>
          <a:xfrm>
            <a:off x="82296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Demo＋LINE Bot</a:t>
            </a:r>
            <a:endParaRPr lang="en-US" sz="2000" dirty="0"/>
          </a:p>
        </p:txBody>
      </p:sp>
      <p:sp>
        <p:nvSpPr>
          <p:cNvPr id="6" name="phase points 1"/>
          <p:cNvSpPr txBox="1"/>
          <p:nvPr/>
        </p:nvSpPr>
        <p:spPr>
          <a:xfrm>
            <a:off x="822960" y="2971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開放網頁與 LINE 回報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串接事故與 TDX 開放資料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招募外送員、竹科通勤族種子回報者</a:t>
            </a:r>
            <a:endParaRPr lang="en-US" sz="1400" dirty="0"/>
          </a:p>
        </p:txBody>
      </p:sp>
      <p:sp>
        <p:nvSpPr>
          <p:cNvPr id="7" name="phase card 2"/>
          <p:cNvSpPr/>
          <p:nvPr/>
        </p:nvSpPr>
        <p:spPr>
          <a:xfrm>
            <a:off x="4297680" y="14173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phase label 2"/>
          <p:cNvSpPr txBox="1"/>
          <p:nvPr/>
        </p:nvSpPr>
        <p:spPr>
          <a:xfrm>
            <a:off x="457200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中期</a:t>
            </a:r>
            <a:endParaRPr lang="en-US" sz="1400" dirty="0"/>
          </a:p>
        </p:txBody>
      </p:sp>
      <p:sp>
        <p:nvSpPr>
          <p:cNvPr id="9" name="phase title 2"/>
          <p:cNvSpPr txBox="1"/>
          <p:nvPr/>
        </p:nvSpPr>
        <p:spPr>
          <a:xfrm>
            <a:off x="457200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東區通勤廊道試辦 3 個月</a:t>
            </a:r>
            <a:endParaRPr lang="en-US" sz="2000" dirty="0"/>
          </a:p>
        </p:txBody>
      </p:sp>
      <p:sp>
        <p:nvSpPr>
          <p:cNvPr id="10" name="phase points 2"/>
          <p:cNvSpPr txBox="1"/>
          <p:nvPr/>
        </p:nvSpPr>
        <p:spPr>
          <a:xfrm>
            <a:off x="4572000" y="2971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光復路、公道五、食品路一帶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與交通處、工務處約定轉案與回覆時限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每月公開議題報告</a:t>
            </a:r>
            <a:endParaRPr lang="en-US" sz="1400" dirty="0"/>
          </a:p>
        </p:txBody>
      </p:sp>
      <p:sp>
        <p:nvSpPr>
          <p:cNvPr id="11" name="phase card 3"/>
          <p:cNvSpPr/>
          <p:nvPr/>
        </p:nvSpPr>
        <p:spPr>
          <a:xfrm>
            <a:off x="8046720" y="14173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2" name="phase label 3"/>
          <p:cNvSpPr txBox="1"/>
          <p:nvPr/>
        </p:nvSpPr>
        <p:spPr>
          <a:xfrm>
            <a:off x="832104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長期</a:t>
            </a:r>
            <a:endParaRPr lang="en-US" sz="1400" dirty="0"/>
          </a:p>
        </p:txBody>
      </p:sp>
      <p:sp>
        <p:nvSpPr>
          <p:cNvPr id="13" name="phase title 3"/>
          <p:cNvSpPr txBox="1"/>
          <p:nvPr/>
        </p:nvSpPr>
        <p:spPr>
          <a:xfrm>
            <a:off x="832104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成為新竹通的公開議題模組</a:t>
            </a:r>
            <a:endParaRPr lang="en-US" sz="2000" dirty="0"/>
          </a:p>
        </p:txBody>
      </p:sp>
      <p:sp>
        <p:nvSpPr>
          <p:cNvPr id="14" name="phase points 3"/>
          <p:cNvSpPr txBox="1"/>
          <p:nvPr/>
        </p:nvSpPr>
        <p:spPr>
          <a:xfrm>
            <a:off x="8321040" y="29718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新竹通陳情案可選擇「公開並開放附議」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結案資料回饋為開放資料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擴大到全市與行人、自行車議題</a:t>
            </a:r>
            <a:endParaRPr lang="en-US" sz="1400" dirty="0"/>
          </a:p>
        </p:txBody>
      </p:sp>
      <p:sp>
        <p:nvSpPr>
          <p:cNvPr id="15" name="suggestion card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4CC"/>
          </a:solidFill>
          <a:ln/>
        </p:spPr>
      </p:sp>
      <p:sp>
        <p:nvSpPr>
          <p:cNvPr id="16" name="hcpass suggestion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對新竹通的具體建議：陳情案件加上「公開」選項、地圖檢視、相同問題附議、進度推播給所有附議者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公開也要公正：四個治理原則</a:t>
            </a:r>
            <a:endParaRPr lang="en-US" sz="3200" dirty="0"/>
          </a:p>
        </p:txBody>
      </p:sp>
      <p:sp>
        <p:nvSpPr>
          <p:cNvPr id="3" name="governance card 1"/>
          <p:cNvSpPr/>
          <p:nvPr/>
        </p:nvSpPr>
        <p:spPr>
          <a:xfrm>
            <a:off x="548640" y="1417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防濫報與重複 circl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防濫報與重複 icon" descr="防濫報與重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466344" cy="466344"/>
          </a:xfrm>
          <a:prstGeom prst="rect">
            <a:avLst/>
          </a:prstGeom>
        </p:spPr>
      </p:pic>
      <p:sp>
        <p:nvSpPr>
          <p:cNvPr id="6" name="governance title 1"/>
          <p:cNvSpPr txBox="1"/>
          <p:nvPr/>
        </p:nvSpPr>
        <p:spPr>
          <a:xfrm>
            <a:off x="182880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防濫報與重複</a:t>
            </a:r>
            <a:endParaRPr lang="en-US" sz="2000" dirty="0"/>
          </a:p>
        </p:txBody>
      </p:sp>
      <p:sp>
        <p:nvSpPr>
          <p:cNvPr id="7" name="governance body 1"/>
          <p:cNvSpPr txBox="1"/>
          <p:nvPr/>
        </p:nvSpPr>
        <p:spPr>
          <a:xfrm>
            <a:off x="1828800" y="2194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同地點同類自動合併；照片與定位必填；異常大量回報由人工審核</a:t>
            </a:r>
            <a:endParaRPr lang="en-US" sz="1400" dirty="0"/>
          </a:p>
        </p:txBody>
      </p:sp>
      <p:sp>
        <p:nvSpPr>
          <p:cNvPr id="8" name="governance card 2"/>
          <p:cNvSpPr/>
          <p:nvPr/>
        </p:nvSpPr>
        <p:spPr>
          <a:xfrm>
            <a:off x="6172200" y="1417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不分黨派 circle"/>
          <p:cNvSpPr/>
          <p:nvPr/>
        </p:nvSpPr>
        <p:spPr>
          <a:xfrm>
            <a:off x="6446520" y="17373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不分黨派 icon" descr="不分黨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892808"/>
            <a:ext cx="466344" cy="466344"/>
          </a:xfrm>
          <a:prstGeom prst="rect">
            <a:avLst/>
          </a:prstGeom>
        </p:spPr>
      </p:pic>
      <p:sp>
        <p:nvSpPr>
          <p:cNvPr id="11" name="governance title 2"/>
          <p:cNvSpPr txBox="1"/>
          <p:nvPr/>
        </p:nvSpPr>
        <p:spPr>
          <a:xfrm>
            <a:off x="745236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不分黨派</a:t>
            </a:r>
            <a:endParaRPr lang="en-US" sz="2000" dirty="0"/>
          </a:p>
        </p:txBody>
      </p:sp>
      <p:sp>
        <p:nvSpPr>
          <p:cNvPr id="12" name="governance body 2"/>
          <p:cNvSpPr txBox="1"/>
          <p:nvPr/>
        </p:nvSpPr>
        <p:spPr>
          <a:xfrm>
            <a:off x="7452360" y="2194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邀請場勘時同時邀請該選區所有議員，出席與承諾一律公開紀錄</a:t>
            </a:r>
            <a:endParaRPr lang="en-US" sz="1400" dirty="0"/>
          </a:p>
        </p:txBody>
      </p:sp>
      <p:sp>
        <p:nvSpPr>
          <p:cNvPr id="13" name="governance card 3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保護隱私 circle"/>
          <p:cNvSpPr/>
          <p:nvPr/>
        </p:nvSpPr>
        <p:spPr>
          <a:xfrm>
            <a:off x="822960" y="39776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保護隱私 icon" descr="保護隱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133088"/>
            <a:ext cx="466344" cy="466344"/>
          </a:xfrm>
          <a:prstGeom prst="rect">
            <a:avLst/>
          </a:prstGeom>
        </p:spPr>
      </p:pic>
      <p:sp>
        <p:nvSpPr>
          <p:cNvPr id="16" name="governance title 3"/>
          <p:cNvSpPr txBox="1"/>
          <p:nvPr/>
        </p:nvSpPr>
        <p:spPr>
          <a:xfrm>
            <a:off x="182880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保護隱私</a:t>
            </a:r>
            <a:endParaRPr lang="en-US" sz="2000" dirty="0"/>
          </a:p>
        </p:txBody>
      </p:sp>
      <p:sp>
        <p:nvSpPr>
          <p:cNvPr id="17" name="governance body 3"/>
          <p:cNvSpPr txBox="1"/>
          <p:nvPr/>
        </p:nvSpPr>
        <p:spPr>
          <a:xfrm>
            <a:off x="1828800" y="44348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照片自動模糊人臉與車牌；公開地圖只顯示路段，不顯示回報者身分</a:t>
            </a:r>
            <a:endParaRPr lang="en-US" sz="1400" dirty="0"/>
          </a:p>
        </p:txBody>
      </p:sp>
      <p:sp>
        <p:nvSpPr>
          <p:cNvPr id="18" name="governance card 4"/>
          <p:cNvSpPr/>
          <p:nvPr/>
        </p:nvSpPr>
        <p:spPr>
          <a:xfrm>
            <a:off x="6172200" y="365760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不取代既有管道 circle"/>
          <p:cNvSpPr/>
          <p:nvPr/>
        </p:nvSpPr>
        <p:spPr>
          <a:xfrm>
            <a:off x="6446520" y="39776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不取代既有管道 icon" descr="不取代既有管道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133088"/>
            <a:ext cx="466344" cy="466344"/>
          </a:xfrm>
          <a:prstGeom prst="rect">
            <a:avLst/>
          </a:prstGeom>
        </p:spPr>
      </p:pic>
      <p:sp>
        <p:nvSpPr>
          <p:cNvPr id="21" name="governance title 4"/>
          <p:cNvSpPr txBox="1"/>
          <p:nvPr/>
        </p:nvSpPr>
        <p:spPr>
          <a:xfrm>
            <a:off x="745236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不取代既有管道</a:t>
            </a:r>
            <a:endParaRPr lang="en-US" sz="2000" dirty="0"/>
          </a:p>
        </p:txBody>
      </p:sp>
      <p:sp>
        <p:nvSpPr>
          <p:cNvPr id="22" name="governance body 4"/>
          <p:cNvSpPr txBox="1"/>
          <p:nvPr/>
        </p:nvSpPr>
        <p:spPr>
          <a:xfrm>
            <a:off x="7452360" y="44348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案件轉入 1999／新竹通由主管機關處理，竹路通負責公開與追蹤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試辦要量什麼：用改善結果證明價值</a:t>
            </a:r>
            <a:endParaRPr lang="en-US" sz="3200" dirty="0"/>
          </a:p>
        </p:txBody>
      </p:sp>
      <p:sp>
        <p:nvSpPr>
          <p:cNvPr id="3" name="kpi number bg 1"/>
          <p:cNvSpPr/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kpi number 1"/>
          <p:cNvSpPr txBox="1"/>
          <p:nvPr/>
        </p:nvSpPr>
        <p:spPr>
          <a:xfrm>
            <a:off x="54864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kpi name 1"/>
          <p:cNvSpPr txBox="1"/>
          <p:nvPr/>
        </p:nvSpPr>
        <p:spPr>
          <a:xfrm>
            <a:off x="1325880" y="14630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回報到結案天數</a:t>
            </a:r>
            <a:endParaRPr lang="en-US" sz="1800" dirty="0"/>
          </a:p>
        </p:txBody>
      </p:sp>
      <p:sp>
        <p:nvSpPr>
          <p:cNvPr id="6" name="kpi desc 1"/>
          <p:cNvSpPr txBox="1"/>
          <p:nvPr/>
        </p:nvSpPr>
        <p:spPr>
          <a:xfrm>
            <a:off x="4663440" y="146304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每個議題從首則回報到完工的天數，與試辦前同類陳情比較</a:t>
            </a:r>
            <a:endParaRPr lang="en-US" sz="1400" dirty="0"/>
          </a:p>
        </p:txBody>
      </p:sp>
      <p:sp>
        <p:nvSpPr>
          <p:cNvPr id="7" name="kpi number bg 2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kpi number 2"/>
          <p:cNvSpPr txBox="1"/>
          <p:nvPr/>
        </p:nvSpPr>
        <p:spPr>
          <a:xfrm>
            <a:off x="5486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kpi name 2"/>
          <p:cNvSpPr txBox="1"/>
          <p:nvPr/>
        </p:nvSpPr>
        <p:spPr>
          <a:xfrm>
            <a:off x="1325880" y="235915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重複陳情減少</a:t>
            </a:r>
            <a:endParaRPr lang="en-US" sz="1800" dirty="0"/>
          </a:p>
        </p:txBody>
      </p:sp>
      <p:sp>
        <p:nvSpPr>
          <p:cNvPr id="10" name="kpi desc 2"/>
          <p:cNvSpPr txBox="1"/>
          <p:nvPr/>
        </p:nvSpPr>
        <p:spPr>
          <a:xfrm>
            <a:off x="4663440" y="2359152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同一地點同一問題的重複案件，合併後減少多少</a:t>
            </a:r>
            <a:endParaRPr lang="en-US" sz="1400" dirty="0"/>
          </a:p>
        </p:txBody>
      </p:sp>
      <p:sp>
        <p:nvSpPr>
          <p:cNvPr id="11" name="kpi number bg 3"/>
          <p:cNvSpPr/>
          <p:nvPr/>
        </p:nvSpPr>
        <p:spPr>
          <a:xfrm>
            <a:off x="548640" y="327355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kpi number 3"/>
          <p:cNvSpPr txBox="1"/>
          <p:nvPr/>
        </p:nvSpPr>
        <p:spPr>
          <a:xfrm>
            <a:off x="548640" y="3273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kpi name 3"/>
          <p:cNvSpPr txBox="1"/>
          <p:nvPr/>
        </p:nvSpPr>
        <p:spPr>
          <a:xfrm>
            <a:off x="1325880" y="325526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回報者確認改善率</a:t>
            </a:r>
            <a:endParaRPr lang="en-US" sz="1800" dirty="0"/>
          </a:p>
        </p:txBody>
      </p:sp>
      <p:sp>
        <p:nvSpPr>
          <p:cNvPr id="14" name="kpi desc 3"/>
          <p:cNvSpPr txBox="1"/>
          <p:nvPr/>
        </p:nvSpPr>
        <p:spPr>
          <a:xfrm>
            <a:off x="4663440" y="3255264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完工後回報者按「確認改善」的比例</a:t>
            </a:r>
            <a:endParaRPr lang="en-US" sz="1400" dirty="0"/>
          </a:p>
        </p:txBody>
      </p:sp>
      <p:sp>
        <p:nvSpPr>
          <p:cNvPr id="15" name="kpi number bg 4"/>
          <p:cNvSpPr/>
          <p:nvPr/>
        </p:nvSpPr>
        <p:spPr>
          <a:xfrm>
            <a:off x="548640" y="41696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kpi number 4"/>
          <p:cNvSpPr txBox="1"/>
          <p:nvPr/>
        </p:nvSpPr>
        <p:spPr>
          <a:xfrm>
            <a:off x="548640" y="4169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kpi name 4"/>
          <p:cNvSpPr txBox="1"/>
          <p:nvPr/>
        </p:nvSpPr>
        <p:spPr>
          <a:xfrm>
            <a:off x="1325880" y="415137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每月有效回報數</a:t>
            </a:r>
            <a:endParaRPr lang="en-US" sz="1800" dirty="0"/>
          </a:p>
        </p:txBody>
      </p:sp>
      <p:sp>
        <p:nvSpPr>
          <p:cNvPr id="18" name="kpi desc 4"/>
          <p:cNvSpPr txBox="1"/>
          <p:nvPr/>
        </p:nvSpPr>
        <p:spPr>
          <a:xfrm>
            <a:off x="4663440" y="4151376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通過審核的回報，以及外送員、通勤族的參與人數</a:t>
            </a:r>
            <a:endParaRPr lang="en-US" sz="1400" dirty="0"/>
          </a:p>
        </p:txBody>
      </p:sp>
      <p:sp>
        <p:nvSpPr>
          <p:cNvPr id="19" name="kpi number bg 5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kpi number 5"/>
          <p:cNvSpPr txBox="1"/>
          <p:nvPr/>
        </p:nvSpPr>
        <p:spPr>
          <a:xfrm>
            <a:off x="548640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kpi name 5"/>
          <p:cNvSpPr txBox="1"/>
          <p:nvPr/>
        </p:nvSpPr>
        <p:spPr>
          <a:xfrm>
            <a:off x="1325880" y="504748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主管機關回覆率</a:t>
            </a:r>
            <a:endParaRPr lang="en-US" sz="1800" dirty="0"/>
          </a:p>
        </p:txBody>
      </p:sp>
      <p:sp>
        <p:nvSpPr>
          <p:cNvPr id="22" name="kpi desc 5"/>
          <p:cNvSpPr txBox="1"/>
          <p:nvPr/>
        </p:nvSpPr>
        <p:spPr>
          <a:xfrm>
            <a:off x="4663440" y="5047488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在約定時限內有回覆的議題比例</a:t>
            </a:r>
            <a:endParaRPr lang="en-US" sz="14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9"/>
                </a:solidFill>
              </a:rPr>
              <a:t>現階段為提案，尚無實測數據；目標值於試辦前與市府共同訂定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每一則回報，都看得到下文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集體回報＋數據驗證＋公開追蹤</a:t>
            </a:r>
            <a:endParaRPr lang="en-US" sz="2200" dirty="0"/>
          </a:p>
        </p:txBody>
      </p:sp>
      <p:sp>
        <p:nvSpPr>
          <p:cNvPr id="4" name="closing url"/>
          <p:cNvSpPr txBox="1"/>
          <p:nvPr/>
        </p:nvSpPr>
        <p:spPr>
          <a:xfrm>
            <a:off x="73152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5DC"/>
                </a:solidFill>
              </a:rPr>
              <a:t>Demo：chase5ws.github.io/2026_-hsinchu_policy-hackathon/roads.html</a:t>
            </a:r>
            <a:endParaRPr lang="en-US" sz="1600" dirty="0"/>
          </a:p>
        </p:txBody>
      </p:sp>
      <p:sp>
        <p:nvSpPr>
          <p:cNvPr id="5" name="closing lane mark 1"/>
          <p:cNvSpPr/>
          <p:nvPr/>
        </p:nvSpPr>
        <p:spPr>
          <a:xfrm>
            <a:off x="73152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closing lane mark 2"/>
          <p:cNvSpPr/>
          <p:nvPr/>
        </p:nvSpPr>
        <p:spPr>
          <a:xfrm>
            <a:off x="196596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closing lane mark 3"/>
          <p:cNvSpPr/>
          <p:nvPr/>
        </p:nvSpPr>
        <p:spPr>
          <a:xfrm>
            <a:off x="320040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closing lane mark 4"/>
          <p:cNvSpPr/>
          <p:nvPr/>
        </p:nvSpPr>
        <p:spPr>
          <a:xfrm>
            <a:off x="443484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closing lane mark 5"/>
          <p:cNvSpPr/>
          <p:nvPr/>
        </p:nvSpPr>
        <p:spPr>
          <a:xfrm>
            <a:off x="566928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closing lane mark 6"/>
          <p:cNvSpPr/>
          <p:nvPr/>
        </p:nvSpPr>
        <p:spPr>
          <a:xfrm>
            <a:off x="690372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closing lane mark 7"/>
          <p:cNvSpPr/>
          <p:nvPr/>
        </p:nvSpPr>
        <p:spPr>
          <a:xfrm>
            <a:off x="813816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closing lane mark 8"/>
          <p:cNvSpPr/>
          <p:nvPr/>
        </p:nvSpPr>
        <p:spPr>
          <a:xfrm>
            <a:off x="937260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closing lane mark 9"/>
          <p:cNvSpPr/>
          <p:nvPr/>
        </p:nvSpPr>
        <p:spPr>
          <a:xfrm>
            <a:off x="10607040" y="5897880"/>
            <a:ext cx="731520" cy="109728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資料來源</a:t>
            </a:r>
            <a:endParaRPr lang="en-US" sz="3200" dirty="0"/>
          </a:p>
        </p:txBody>
      </p:sp>
      <p:sp>
        <p:nvSpPr>
          <p:cNvPr id="3" name="references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中央社（2026/03/12）新竹市數位發展處成立：新竹通下載逾 20 萬次、整合 300+ 項服務、1999 近 5 年平均每月約 4,000 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 Store「新竹通」頁面：評分 3.0（458 則），功能含陳情反映與案件查詢（2026/10/30 查詢）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新竹通網站 id.hccg.gov.tw：功能選單、最新系統公告 2025/12/04（2026/10/30 查詢）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自由時報（2025/09）、優分析（2025/09/16）：2025 上半年全國交通 30 日死亡 1,368 人，機車 831 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中央社（2025）新竹市道安會報：2025 年 1–9 月受傷人數較同期減少 612 人（−6.8%）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聯合報（2026/07/28）：光復路一段 525 巷晨間尖峰單行管制試辦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聯合報：市議員質詢「道安五環」與 12 公尺以上道路調查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經濟日報（2023/08/15）引述勞動部職安署：外送員 2019 年 4.5 萬人、2022 年 14.5 萬人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104 職場力（2026/05/08）：外送員權益保障及外送平臺管理法 2026/7/21 施行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公視（2020/08/19）：Join 平台上線五年 9,000+ 提案、成案 202 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竹路通">
  <a:themeElements>
    <a:clrScheme name="竹路通">
      <a:dk1>
        <a:srgbClr val="1F2328"/>
      </a:dk1>
      <a:lt1>
        <a:srgbClr val="FFFFFF"/>
      </a:lt1>
      <a:dk2>
        <a:srgbClr val="2D333B"/>
      </a:dk2>
      <a:lt2>
        <a:srgbClr val="F3F3EF"/>
      </a:lt2>
      <a:accent1>
        <a:srgbClr val="F5B700"/>
      </a:accent1>
      <a:accent2>
        <a:srgbClr val="D94F2B"/>
      </a:accent2>
      <a:accent3>
        <a:srgbClr val="1A7F4B"/>
      </a:accent3>
      <a:accent4>
        <a:srgbClr val="7C3AED"/>
      </a:accent4>
      <a:accent5>
        <a:srgbClr val="2563EB"/>
      </a:accent5>
      <a:accent6>
        <a:srgbClr val="64748B"/>
      </a:accent6>
      <a:hlink>
        <a:srgbClr val="0B5CAD"/>
      </a:hlink>
      <a:folHlink>
        <a:srgbClr val="6B4FA0"/>
      </a:folHlink>
    </a:clrScheme>
    <a:fontScheme name="竹路通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竹路通：新竹交通路況共治平台</dc:title>
  <dc:subject>PptxGenJS Presentation</dc:subject>
  <dc:creator>Chase</dc:creator>
  <cp:lastModifiedBy>Chase</cp:lastModifiedBy>
  <cp:revision>1</cp:revision>
  <dcterms:created xsi:type="dcterms:W3CDTF">2026-10-30T08:20:24Z</dcterms:created>
  <dcterms:modified xsi:type="dcterms:W3CDTF">2026-10-30T08:20:24Z</dcterms:modified>
</cp:coreProperties>
</file>